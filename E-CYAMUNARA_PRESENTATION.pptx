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023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RNP E-CYAMUNARA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D700"/>
                </a:solidFill>
              </a:rPr>
              <a:t>ONLINE AUCTION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Digital Vehicle Auction Management for Rwanda National Police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080"/>
                </a:solidFill>
              </a:rPr>
              <a:t>Mobile Application and Handheld Devices  |  GROUP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5029200" cy="201168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370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IRUMVA Jean Marie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MANZI Stiven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NDAYISHIMIYE Issa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NIYOMUGABO Eduard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297680"/>
            <a:ext cx="5212080" cy="201168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43708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Presentation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7365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Academic Year:  2024 –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1206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Date:  May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486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Institution:  RP – Musanze Campus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FFD700"/>
                </a:solidFill>
              </a:rPr>
              <a:t>What is E-CYAMUNARA?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338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A1A2E"/>
                </a:solidFill>
              </a:rPr>
              <a:t>E-CYAMUNARA</a:t>
            </a:r>
            <a:r>
              <a:rPr sz="2400" b="0" i="0" dirty="0">
                <a:solidFill>
                  <a:srgbClr val="1A1A2E"/>
                </a:solidFill>
              </a:rPr>
              <a:t> is a mobile-first online auction platform built for the Rwanda National Police (RNP) to digitize and modernize the management of vehicle auctions.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32895"/>
            <a:ext cx="1022299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800" b="1" dirty="0">
                <a:solidFill>
                  <a:srgbClr val="FFD700"/>
                </a:solidFill>
              </a:rPr>
              <a:t>▸  </a:t>
            </a:r>
            <a:r>
              <a:rPr sz="3200" dirty="0">
                <a:solidFill>
                  <a:srgbClr val="1A1A2E"/>
                </a:solidFill>
              </a:rPr>
              <a:t>Purpose-built Flutter mobile application</a:t>
            </a:r>
          </a:p>
          <a:p>
            <a:pPr>
              <a:spcBef>
                <a:spcPts val="400"/>
              </a:spcBef>
            </a:pPr>
            <a:r>
              <a:rPr sz="2800" b="1" dirty="0">
                <a:solidFill>
                  <a:srgbClr val="FFD700"/>
                </a:solidFill>
              </a:rPr>
              <a:t>▸  </a:t>
            </a:r>
            <a:r>
              <a:rPr sz="3200" dirty="0">
                <a:solidFill>
                  <a:srgbClr val="1A1A2E"/>
                </a:solidFill>
              </a:rPr>
              <a:t>Replaces manual, paper-based auction processes</a:t>
            </a:r>
          </a:p>
          <a:p>
            <a:pPr>
              <a:spcBef>
                <a:spcPts val="400"/>
              </a:spcBef>
            </a:pPr>
            <a:r>
              <a:rPr sz="2800" b="1" dirty="0">
                <a:solidFill>
                  <a:srgbClr val="FFD700"/>
                </a:solidFill>
              </a:rPr>
              <a:t>▸  </a:t>
            </a:r>
            <a:r>
              <a:rPr sz="3200" dirty="0">
                <a:solidFill>
                  <a:srgbClr val="1A1A2E"/>
                </a:solidFill>
              </a:rPr>
              <a:t>Enables citizens to participate in RNP auctions remotely</a:t>
            </a:r>
          </a:p>
          <a:p>
            <a:pPr>
              <a:spcBef>
                <a:spcPts val="400"/>
              </a:spcBef>
            </a:pPr>
            <a:r>
              <a:rPr sz="2800" b="1" dirty="0">
                <a:solidFill>
                  <a:srgbClr val="FFD700"/>
                </a:solidFill>
              </a:rPr>
              <a:t>▸  </a:t>
            </a:r>
            <a:r>
              <a:rPr sz="3200" dirty="0">
                <a:solidFill>
                  <a:srgbClr val="1A1A2E"/>
                </a:solidFill>
              </a:rPr>
              <a:t>Real-time bidding with live auction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" y="4548886"/>
            <a:ext cx="11471148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3200" b="1" dirty="0">
                <a:solidFill>
                  <a:srgbClr val="FFD700"/>
                </a:solidFill>
              </a:rPr>
              <a:t>▸  </a:t>
            </a:r>
            <a:r>
              <a:rPr sz="3600" dirty="0">
                <a:solidFill>
                  <a:srgbClr val="1A1A2E"/>
                </a:solidFill>
              </a:rPr>
              <a:t>Covers full auction lifecycle: post → bid → close → report</a:t>
            </a:r>
          </a:p>
          <a:p>
            <a:pPr>
              <a:spcBef>
                <a:spcPts val="400"/>
              </a:spcBef>
            </a:pPr>
            <a:r>
              <a:rPr sz="3200" b="1" dirty="0">
                <a:solidFill>
                  <a:srgbClr val="FFD700"/>
                </a:solidFill>
              </a:rPr>
              <a:t>▸  </a:t>
            </a:r>
            <a:r>
              <a:rPr sz="3600" dirty="0">
                <a:solidFill>
                  <a:srgbClr val="1A1A2E"/>
                </a:solidFill>
              </a:rPr>
              <a:t>Three-tier role system for controlled access</a:t>
            </a:r>
          </a:p>
          <a:p>
            <a:pPr>
              <a:spcBef>
                <a:spcPts val="400"/>
              </a:spcBef>
            </a:pPr>
            <a:r>
              <a:rPr sz="3200" b="1" dirty="0">
                <a:solidFill>
                  <a:srgbClr val="FFD700"/>
                </a:solidFill>
              </a:rPr>
              <a:t>▸  </a:t>
            </a:r>
            <a:r>
              <a:rPr sz="3600" dirty="0">
                <a:solidFill>
                  <a:srgbClr val="1A1A2E"/>
                </a:solidFill>
              </a:rPr>
              <a:t>Secure data handling with </a:t>
            </a:r>
            <a:r>
              <a:rPr sz="3600" dirty="0" err="1">
                <a:solidFill>
                  <a:srgbClr val="1A1A2E"/>
                </a:solidFill>
              </a:rPr>
              <a:t>Supabase</a:t>
            </a:r>
            <a:r>
              <a:rPr sz="3600" dirty="0">
                <a:solidFill>
                  <a:srgbClr val="1A1A2E"/>
                </a:solidFill>
              </a:rPr>
              <a:t> </a:t>
            </a:r>
            <a:r>
              <a:rPr sz="3600" dirty="0" smtClean="0">
                <a:solidFill>
                  <a:srgbClr val="1A1A2E"/>
                </a:solidFill>
              </a:rPr>
              <a:t>backend</a:t>
            </a:r>
            <a:endParaRPr sz="3600" dirty="0">
              <a:solidFill>
                <a:srgbClr val="1A1A2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FFD700"/>
                </a:solidFill>
              </a:rPr>
              <a:t>Challenges with traditional vehicle auctions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566160" cy="210312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1" y="1508760"/>
            <a:ext cx="33924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3087"/>
                </a:solidFill>
              </a:rPr>
              <a:t>Physical Attendance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874520"/>
            <a:ext cx="334670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7450" y="2091750"/>
            <a:ext cx="3534157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 dirty="0">
                <a:solidFill>
                  <a:srgbClr val="FFD700"/>
                </a:solidFill>
              </a:rPr>
              <a:t>▸  </a:t>
            </a:r>
            <a:r>
              <a:rPr dirty="0">
                <a:solidFill>
                  <a:srgbClr val="1A1A2E"/>
                </a:solidFill>
              </a:rPr>
              <a:t>Citizens must travel to auction venues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FFD700"/>
                </a:solidFill>
              </a:rPr>
              <a:t>▸  </a:t>
            </a:r>
            <a:r>
              <a:rPr dirty="0">
                <a:solidFill>
                  <a:srgbClr val="1A1A2E"/>
                </a:solidFill>
              </a:rPr>
              <a:t>High transport cost and time burden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417320"/>
            <a:ext cx="3566160" cy="210312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9392" y="1508760"/>
            <a:ext cx="3291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3087"/>
                </a:solidFill>
              </a:rPr>
              <a:t>Limited Transparency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874520"/>
            <a:ext cx="334670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24528" y="1947672"/>
            <a:ext cx="3346704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 dirty="0">
                <a:solidFill>
                  <a:srgbClr val="FFD700"/>
                </a:solidFill>
              </a:rPr>
              <a:t>▸  </a:t>
            </a:r>
            <a:r>
              <a:rPr sz="2000" dirty="0">
                <a:solidFill>
                  <a:srgbClr val="1A1A2E"/>
                </a:solidFill>
              </a:rPr>
              <a:t>No public view of bid history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FD700"/>
                </a:solidFill>
              </a:rPr>
              <a:t>▸  </a:t>
            </a:r>
            <a:r>
              <a:rPr sz="2000" dirty="0">
                <a:solidFill>
                  <a:srgbClr val="1A1A2E"/>
                </a:solidFill>
              </a:rPr>
              <a:t>Fraud risk in manual bid recording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3840480" cy="210312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9871" y="150876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3087"/>
                </a:solidFill>
              </a:rPr>
              <a:t>Delayed Communication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7" y="1874520"/>
            <a:ext cx="362102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65007" y="1947672"/>
            <a:ext cx="36210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Winners notified only in person or by phone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No automated status updates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3566160" cy="210312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3794760"/>
            <a:ext cx="3291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3087"/>
                </a:solidFill>
              </a:rPr>
              <a:t>Poor Record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160520"/>
            <a:ext cx="334670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4233672"/>
            <a:ext cx="33467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Paper-based documentation lost or damaged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No audit trail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703320"/>
            <a:ext cx="3566160" cy="210312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9392" y="3794760"/>
            <a:ext cx="3291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3087"/>
                </a:solidFill>
              </a:rPr>
              <a:t>Limited Accessibility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4160520"/>
            <a:ext cx="334670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33467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Auctions inaccessible to citizens outside the region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Language and scheduling barriers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3703320"/>
            <a:ext cx="3840480" cy="210312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9871" y="379476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3087"/>
                </a:solidFill>
              </a:rPr>
              <a:t>Difficult Bid Tracking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7" y="4160520"/>
            <a:ext cx="362102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65007" y="4233672"/>
            <a:ext cx="36210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No system to track personal bids or outbid status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Buyers must call RNP for updates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How E-CYAMUNARA solves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Online Auction Management — RNP admins post, edit, and close auctions from any device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Real-Time Bidding — Supabase Realtime streams live bid updates instantly to all participants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Mobile Accessibility — Android app built with Flutter; accessible from anywhere in Rwanda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Push Notifications — OneSignal alerts users when outbid, when auctions open/close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Digital Reports — Auto-generated region and national PDF auction reports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Transparent Auction Process — All bids are logged, timestamped, and immutable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Secure RBAC — Role-based access ensures only authorized users perform sensitive actions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Centralized Administration — Super admin oversees all regions and admins from one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Users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Three-tier role-based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657600" cy="443484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365760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4813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3429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Registers and logs in via mobile app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Selects preferred auction region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Browses active auction listings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Places and tracks bids in real time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Receives outbid and win notifications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Submits feedback on completed auctions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Views personal bid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3657600" cy="443484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1417320"/>
            <a:ext cx="365760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4813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REGION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965960"/>
            <a:ext cx="3429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Manages auctions for assigned RNP region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Posts new vehicle auctions with photos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Monitors all bids on active auctions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Manually closes auctions and declares winner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Manages client accounts (suspend / activate)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Generates region-level auction reports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Views client feedback and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3657600" cy="443484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365760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80" y="14813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SUPER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3429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Full oversight of all regions nationwide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Creates and manages region admin accounts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Monitors all auctions across all regions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Accesses national-level reports and analytics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Views system-wide statistics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D700"/>
                </a:solidFill>
              </a:rPr>
              <a:t>▸  </a:t>
            </a:r>
            <a:r>
              <a:rPr sz="1300">
                <a:solidFill>
                  <a:srgbClr val="1A1A2E"/>
                </a:solidFill>
              </a:rPr>
              <a:t>Has ultimate authority over platform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Core capabilities of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444752"/>
            <a:ext cx="3657600" cy="13716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5361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Authentication &amp; RBAC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1901952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975104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JWT-based Supabase Auth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Role-resolved routing with GoRouter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444752"/>
            <a:ext cx="3657600" cy="13716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5361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Auction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901952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1975104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Post, edit, monitor, close auctions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Photo upload via Supabase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44752"/>
            <a:ext cx="3657600" cy="13716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5361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Real-Time Bidding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2168" y="1901952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1975104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Live bid streaming via Supabase Realtime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Atomic bid validation via Edge Functions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971800"/>
            <a:ext cx="3657600" cy="13716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" y="3063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Push Notifications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" y="3429000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" y="3502152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OneSignal integration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Outbid and auction-close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971800"/>
            <a:ext cx="3657600" cy="13716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5112" y="3063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Reports &amp; Analytics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3429000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70248" y="3502152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Region and national PDF reports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Dynamic stat counters on dashboards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2971800"/>
            <a:ext cx="3657600" cy="13716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57032" y="3063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Client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02168" y="3429000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2168" y="3502152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Suspend / activate accounts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Feedback review per client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498848"/>
            <a:ext cx="3657600" cy="13716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3192" y="4590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Feedback System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" y="4956048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8" y="5029200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Clients rate completed auctions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Admins view all submitted feedback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4498848"/>
            <a:ext cx="3657600" cy="13716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25112" y="4590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Region-Based Filtering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4956048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70248" y="5029200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Clients select their region on signup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Admins scoped to assigned region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4498848"/>
            <a:ext cx="3657600" cy="13716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57032" y="4590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Secure Data Handling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2168" y="4956048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02168" y="5029200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National IDs encrypted with AES-256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RLS policies enforce row-level security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Stack powering E-CYAMUNARA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657600" cy="489204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508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1874520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947672"/>
            <a:ext cx="3438144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Flutter 3.x — Cross-platform UI framework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Dart — Strongly-typed programming language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Riverpod — Reactive state management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GoRouter — Declarative routing &amp; RBAC redirect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Cached Network Image — Efficient image loading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3657600" cy="489204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508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Backend &amp;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74520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1947672"/>
            <a:ext cx="3438144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Supabase — BaaS platform (PostgreSQL + Auth + Storage + Realtime)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PostgreSQL — Relational database with RLS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Supabase Edge Functions — Deno serverless logic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Supabase Storage — Photo and document storage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Supabase Realtime — WebSocket live sync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3657600" cy="489204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508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Architecture &amp;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2168" y="1874520"/>
            <a:ext cx="343814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1947672"/>
            <a:ext cx="3438144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Clean Architecture — domain / data / presentation layers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OneSignal — Push notification service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AES-256 CBC — National ID encryption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flutter_secure_storage — Secure key storage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Android Studio / VS Code — Development IDEs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Key engineering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Real-Time Database Integration — Supabase Realtime pushes live bid updates without polling; StreamProvider.family drives UI reactivity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Role-Based Routing — GoRouter redirect resolves user role on every navigation, with 5-second cache to eliminate startup lag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Atomic Bid Placement — Edge Function validates bid amount server-side, updates auction, and notifies outbid users in a single transaction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Dynamic Dashboards — Stat counters update instantly using FutureProvider with refreshable state; no manual refresh required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Image Upload Pipeline — Supabase Storage with UUID-named paths; Cached Network Image prevents redundant downloads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Region-Based Filtering — All auction queries scoped by region_id; admins only see their own auctions and bids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National ID Security — AES-256 CBC encryption applied before any write; key stored in flutter_secure_storage, never in DB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Responsive Android Layouts — All screens validated on Android 7–14; overflow resolved with Flexible + SingleChildScrollView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Real obstacles encountered during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01752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5636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RenderFlex Overflow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563624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Multiple screens overflowed on smaller screens → Replaced Row/Column with Flexible + SingleChildScrollView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39696"/>
            <a:ext cx="301752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2219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Supabase RLS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2199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Row-level security blocked legitimate queries → Debugged and rewrote RLS rules per role and operation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98064"/>
            <a:ext cx="301752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8803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Password Reset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8036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Reset sheet showed hidden snackbar errors → Replaced with inline error text widget inside the modal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56432"/>
            <a:ext cx="301752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3538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Android 7 Compatibility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538728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Black screen on startup due to slow async router → Added 5s role cache + 15s global timeout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14800"/>
            <a:ext cx="301752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41970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Wireless ADB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97096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No USB port access → Used Android Wireless Debugging (adb connect) throughout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773168"/>
            <a:ext cx="301752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48554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State Synchronization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855464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Bid counts and auction status fell out of sync → Used StreamProvider.family with Realtime subscriptions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31536"/>
            <a:ext cx="301752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55138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Dynamic Count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51383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Dashboard stats were static after actions → Switched to FutureProvider with invalidate-on-action pattern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Walkthrough sequence for the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08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User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48132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Open app → Enter credentials → Role resolved → Navigate to Home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52244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9979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087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162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Region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1625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Client selects their district/region on first login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87168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2532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087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5511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Browse Auctions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55117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Home screen shows active auctions in real time for the selected 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22092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30678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087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0861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Place a Bid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08610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Open auction detail → Enter bid amount → Confirm → Bid submitted via Edge Function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57016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36027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087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621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621024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Demonstrate outbid push notification arriving on the device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9194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41376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087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1559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Admin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15594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Login as Region Admin → View live auction stats and active bids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626864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46725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087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690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Close Auction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6908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Admin closes auction → Winner announced → Status updated across all clients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61788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52075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087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2257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522579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Admin generates and downloads region auction PDF report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696712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57424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087"/>
                </a:solidFill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760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Super Admin 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7607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Login as Super Admin → National dashboard → Manage region admins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What we successfully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Fully working Flutter Android application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Real-time auction management and bidding system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Secure three-role authentication with GoRouter RBAC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Complete admin and super admin dashboards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Push notifications via OneSignal integration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Dynamic PDF report generation per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0876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AES-256 National ID encryption in secure storage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Supabase Edge Functions for all critical business logic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Production-quality Clean Architecture codebase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Region-based filtering and scoped admin access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Responsive layouts tested on Android 7 through 14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D700"/>
                </a:solidFill>
              </a:rPr>
              <a:t>▸  </a:t>
            </a:r>
            <a:r>
              <a:rPr sz="1400">
                <a:solidFill>
                  <a:srgbClr val="1A1A2E"/>
                </a:solidFill>
              </a:rPr>
              <a:t>Successful end-to-end testing via wireless ADB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Planned enhancements beyond this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566160" cy="2286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5087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Mobile Money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874520"/>
            <a:ext cx="334670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947672"/>
            <a:ext cx="33467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MTN Mobile Money &amp; Airtel payment gateway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Direct bid deposit and refund automation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417320"/>
            <a:ext cx="3566160" cy="2286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9392" y="15087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SMS Notifications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874520"/>
            <a:ext cx="334670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24528" y="1947672"/>
            <a:ext cx="33467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Twilio/Africa's Talking SMS fallback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Reach users without push notification enabled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3840480" cy="2286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9871" y="15087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AI-Powered Price Prediction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7" y="1874520"/>
            <a:ext cx="362102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65007" y="1947672"/>
            <a:ext cx="36210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ML model trained on historical auction data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Suggests fair bid ranges for new vehicles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86200"/>
            <a:ext cx="3566160" cy="2286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39776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Email Verification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343400"/>
            <a:ext cx="334670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4416552"/>
            <a:ext cx="33467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OTP email confirmation on registration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Prevents fake account creation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886200"/>
            <a:ext cx="3566160" cy="2286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9392" y="39776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Expanded Auction Categories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4343400"/>
            <a:ext cx="334670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24528" y="4416552"/>
            <a:ext cx="33467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Beyond vehicles: equipment, furniture, assets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Category-based filtering and browsing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3886200"/>
            <a:ext cx="3840480" cy="2286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9871" y="39776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Kinyarwanda Localization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7" y="4343400"/>
            <a:ext cx="362102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65007" y="4416552"/>
            <a:ext cx="36210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Full app translation to Kinyarwanda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FD700"/>
                </a:solidFill>
              </a:rPr>
              <a:t>▸  </a:t>
            </a:r>
            <a:r>
              <a:rPr sz="1200">
                <a:solidFill>
                  <a:srgbClr val="1A1A2E"/>
                </a:solidFill>
              </a:rPr>
              <a:t>Accessible to Rwandan citizens across literacy levels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Summary and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E-CYAMUNARA successfully demonstrates how mobile technology can transform public-sector auction management in Rwanda.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Digitized the full auction lifecycle — from posting to winner announcement — eliminating paper-based processes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Empowered citizens to participate in RNP auctions remotely, increasing transparency and reach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Delivered a production-quality Flutter application with Clean Architecture, Riverpod, and Supabase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Implemented strong security: AES-256 encryption, Supabase RLS, server-side Edge Functions, and RBAC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Demonstrated real value for Rwanda National Police: faster auctions, better records, national reporting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Contributes to Rwanda's digital transformation agenda and the broader e-government ecosystem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▸  </a:t>
            </a:r>
            <a:r>
              <a:rPr sz="1500">
                <a:solidFill>
                  <a:srgbClr val="1A1A2E"/>
                </a:solidFill>
              </a:rPr>
              <a:t>Scalable architecture ready for future enhancements including mobile money and AI-assisted pricing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RNP E-CYAMUNARA  |  Online Vehicle Auction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47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D700"/>
                </a:solidFill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RNP E-CYAMUNARA  ·  Online Vehicle Auction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080"/>
                </a:solidFill>
              </a:rPr>
              <a:t>GROUP 6  ·  Mobile Application and Handheld Devices  ·  Academic Year 2024–2025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IRUMVA Jean Marie   ·   MANZI Stiven   ·   NDAYISHIMIYE Issa   ·   NIYOMUGABO Eduard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3087"/>
                </a:solidFill>
              </a:rPr>
              <a:t>RP – Musanze Campus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1657</Words>
  <Application>Microsoft Office PowerPoint</Application>
  <PresentationFormat>Custom</PresentationFormat>
  <Paragraphs>258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2026-05-12T19:56:44Z</dcterms:modified>
  <cp:category/>
</cp:coreProperties>
</file>