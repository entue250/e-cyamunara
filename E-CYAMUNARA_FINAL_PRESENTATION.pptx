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64008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N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pic>
        <p:nvPicPr>
          <p:cNvPr id="6" name="Picture 5" descr="PLATFOR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74320"/>
            <a:ext cx="1280160" cy="128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1691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700"/>
                </a:solidFill>
              </a:rPr>
              <a:t>REPUBLIC OF RWANDA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011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RWANDA NATIONAL POLICE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36576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256032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E-CYAMUNARA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2918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700"/>
                </a:solidFill>
              </a:rPr>
              <a:t>Online Vehicle Auction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36576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38404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University of Rwanda</a:t>
            </a:r>
          </a:p>
          <a:p>
            <a:pPr algn="ctr"/>
            <a:r>
              <a:rPr sz="1100" b="0">
                <a:solidFill>
                  <a:srgbClr val="FFD700"/>
                </a:solidFill>
              </a:rPr>
              <a:t>College of Science and Technology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Dept. of Information Technology</a:t>
            </a:r>
          </a:p>
          <a:p>
            <a:pPr algn="ctr"/>
            <a:r>
              <a:rPr sz="1100" b="0">
                <a:solidFill>
                  <a:srgbClr val="FFD700"/>
                </a:solidFill>
              </a:rPr>
              <a:t>Academic Year: 2024 –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576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PROJECT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82296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Mobile Application Development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261872"/>
            <a:ext cx="71323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3716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Team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783080"/>
            <a:ext cx="7132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  NDAYISHIMIYE Issa            —  ID: 222019872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KARANGWA Jean Paul          —  ID: [ID]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UWIMANA Consolee             —  ID: [ID]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NKURUNZIZA Thierry           —  ID: [ID]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154680"/>
            <a:ext cx="71323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246120"/>
            <a:ext cx="7132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Course/Module: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Mobile Application Development  (INFT 3204)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D700"/>
                </a:solidFill>
              </a:rPr>
              <a:t>Supervisor / Lecturer: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[Lecturer Name]  —  University of Rwanda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D700"/>
                </a:solidFill>
              </a:rPr>
              <a:t>Presentation Date: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May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01  Introduction &amp; Background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19072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02  Problem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9424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94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03  Project Objectives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79776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797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04  Proposed 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10128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101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05  Requirement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06  System 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70832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708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07  Technology Stack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01184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0118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08  UI/UX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431536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315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09  Database 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188720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10  Implementation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719072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7190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11  Testing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249424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2494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12  Challenges &amp; Solutions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779776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7797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13  Live Demo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310128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3101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14  Impact &amp; Benefits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840480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840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15  Future Improvements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370832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3708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16  Conclusion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901184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90118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17  Questions &amp; Answers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Introduction &amp;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79576"/>
            <a:ext cx="5522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Project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45336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▪  E-CYAMUNARA is a Flutter-based mobile auction platform developed for the Rwanda National Police (RNP) to digitize the vehicle auction process.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Vehicle auctions are a core government activity — vehicles seized or retired by RNP require transparent, accessible, and accountable disposal.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The platform replaces cumbersome paper-based processes with a real-time digital solution accessible to all Rwandan citizens.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43000"/>
            <a:ext cx="576072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57607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179576"/>
            <a:ext cx="5614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Digital Rwanda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545336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▪  Rwanda's Vision 2050 prioritises a knowledge-based, digitally-enabled economy.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The government's Smart Rwanda Master Plan targets e-government adoption across all public institutions.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Digital auction platforms reduce corruption, increase public trust, and align with Rwanda's Digital Transformation ambitions.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RNP's adoption of E-CYAMUNARA directly supports the national digitisation mandate.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11880"/>
            <a:ext cx="11612880" cy="2468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611880"/>
            <a:ext cx="1161288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648456"/>
            <a:ext cx="11466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Why This Project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14216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▪  Improves transparency in government asset disposal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Enables remote nationwide participation in auctions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Provides real-time bidding and instant notifications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Generates auditable reports for accountability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Reduces operational costs and manual workload for RNP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840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" cy="21031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8404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61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Manual / Paper-Based Processes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664208"/>
            <a:ext cx="3657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All auction records, bids, and communications managed on paper — slow, error-prone, and costly.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188720"/>
            <a:ext cx="3840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88720"/>
            <a:ext cx="54864" cy="21031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188720"/>
            <a:ext cx="38404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261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Lack of 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664208"/>
            <a:ext cx="3657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No audit trail, no public visibility into bid prices or results — opens the door to manipulation.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840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54864" cy="21031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8404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261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Limited Accessibility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1664208"/>
            <a:ext cx="3657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Citizens must physically travel to RNP offices to participate — excludes those in remote regions.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429000"/>
            <a:ext cx="3840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429000"/>
            <a:ext cx="54864" cy="21031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429000"/>
            <a:ext cx="38404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502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Poor Bid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904488"/>
            <a:ext cx="3657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No real-time visibility into current highest bid; participants cannot track their own bids.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3429000"/>
            <a:ext cx="3840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3429000"/>
            <a:ext cx="54864" cy="21031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429000"/>
            <a:ext cx="38404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1688" y="3502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Delayed 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3904488"/>
            <a:ext cx="3657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Winners notified days later by mail or phone — no instant confirmation or outbid alerts.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429000"/>
            <a:ext cx="3840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429000"/>
            <a:ext cx="54864" cy="21031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429000"/>
            <a:ext cx="38404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3502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</a:rPr>
              <a:t>Fraud Risks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3904488"/>
            <a:ext cx="3657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Paper bids can be altered, lost, or fabricated; no cryptographic verification of submissions.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12880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General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To design, develop, and deploy a secure, real-time mobile auction platform for Rwanda National Police that automates vehicle auction management, enhances transparency, and enables nationwide citizen participation.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214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087"/>
                </a:solidFill>
              </a:rPr>
              <a:t>Specific 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50592"/>
            <a:ext cx="53035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542032"/>
            <a:ext cx="5760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542032"/>
            <a:ext cx="502920" cy="7498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" y="2724912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615184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Design a secure, role-based mobile application for clients, region admins, and super admins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542032"/>
            <a:ext cx="5760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542032"/>
            <a:ext cx="502920" cy="7498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2724912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2615184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Implement real-time bidding using Supabase Realtime with instant outbid notifications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5760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383280"/>
            <a:ext cx="502920" cy="7498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" y="3566160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456432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Implement AES-256 encryption for sensitive personal data (National IDs)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383280"/>
            <a:ext cx="5760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383280"/>
            <a:ext cx="502920" cy="7498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3566160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3456432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Develop Edge Functions for atomic bid placement and auction lifecycle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224528"/>
            <a:ext cx="5760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224528"/>
            <a:ext cx="502920" cy="7498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" y="4407408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297680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Generate PDF auction reports with region-based filtering for administrative oversight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224528"/>
            <a:ext cx="5760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224528"/>
            <a:ext cx="502920" cy="7498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216" y="4407408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4297680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Integrate push notifications via OneSignal for real-time participant communication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065776"/>
            <a:ext cx="5760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065776"/>
            <a:ext cx="502920" cy="7498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248656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138928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Provide a feedback mechanism for continuous system improvement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065776"/>
            <a:ext cx="5760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5065776"/>
            <a:ext cx="502920" cy="7498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0216" y="5248656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5138928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Ensure Android compatibility across API levels 24–34 (Android 7.0 – 14)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Proposed Solution — E-CYAMUNARA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</a:rPr>
              <a:t>E-CYAMUNARA is a cross-platform mobile application that digitises the complete auction lifecycle — from vehicle posting and bid submission to auction closure and winner notification — all in real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1737360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9202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21991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Admin Posts
Auction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8256" y="2103119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087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2848" y="1874519"/>
            <a:ext cx="1737360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2848" y="19202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221991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Citizens
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6784" y="2103119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087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1376" y="1874519"/>
            <a:ext cx="1737360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376" y="19202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221991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View &amp;
Bid 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2103119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087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9904" y="1874519"/>
            <a:ext cx="1737360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4" y="19202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2221991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Real-Time
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103119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087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8432" y="1874519"/>
            <a:ext cx="1737360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2" y="19202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2" y="2221991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Auction
Closed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103119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087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1874519"/>
            <a:ext cx="1737360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19202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221991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Winner
Notified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71800"/>
            <a:ext cx="3749039" cy="3063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297180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00837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Role-Based Access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374136"/>
            <a:ext cx="356615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Three-tier: Super Admin → Region Admin → Client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Separate dashboards per role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GoRouter redirect guards on every navigation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39" y="2971800"/>
            <a:ext cx="3749039" cy="3063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39" y="297180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79391" y="300837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Real-Time Bidding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79" y="3374136"/>
            <a:ext cx="356615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Supabase Realtime subscription on auction rows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Atomic bid placement via Edge Functions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Outbid notifications within 1–2 seconds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58" y="2971800"/>
            <a:ext cx="3749039" cy="3063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58" y="297180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1310" y="300837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Transparency &amp; Reporting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8" y="3374136"/>
            <a:ext cx="356615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All bids permanently recorded in PostgreSQL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PDF report generation per region / period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Full audit trail — tamper-evident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Requirement Analysis — 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22402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User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91056"/>
            <a:ext cx="35661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User registration with NID encryption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Multi-role login (Client / Admin / Super Admin)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Account suspension &amp; activation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Profile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8807" y="1188720"/>
            <a:ext cx="3749039" cy="22402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8807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Auction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7" y="1591056"/>
            <a:ext cx="35661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Post auctions with photos &amp; details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Set start/end dates, starting price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Region-based auction filtering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Manual / automatic auction closure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4" y="1188720"/>
            <a:ext cx="3749039" cy="22402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4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6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Bidding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4" y="1591056"/>
            <a:ext cx="35661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Place bids (min increment enforced)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Real-time current price updates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Bid history per auction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My Bids tracking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38728"/>
            <a:ext cx="3749039" cy="22402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38728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3575304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941064"/>
            <a:ext cx="35661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Outbid push notification via OneSignal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Auction start/end alerts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In-app notification centre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Admin broadcast messages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78807" y="3538728"/>
            <a:ext cx="3749039" cy="22402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78807" y="3538728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3575304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7" y="3941064"/>
            <a:ext cx="35661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PDF report generation per region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National consolidated reports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Report download &amp; storage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Admin dashboard statistics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4" y="3538728"/>
            <a:ext cx="3749039" cy="22402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4" y="3538728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6" y="3575304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4" y="3941064"/>
            <a:ext cx="35661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Client feedback submission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Admin view &amp; respond to feedback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Feedback rating &amp; categorisation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Requirement Analysis — Non-Functional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292608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1170432"/>
            <a:ext cx="868680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Quality Attribute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188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Requirement / Acceptance Criterion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81912"/>
            <a:ext cx="2926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581912"/>
            <a:ext cx="8686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5506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655064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AES-256 NID encryption; Supabase RLS policies; JWT authentication; secure storage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30552"/>
            <a:ext cx="292608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2130552"/>
            <a:ext cx="868680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2037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203704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Bid placement &lt; 2 s; Realtime update &lt; 1.5 s; App startup &lt; 3 s on mid-range devices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79192"/>
            <a:ext cx="2926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2679192"/>
            <a:ext cx="8686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7523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Scalability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752344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Supabase managed PostgreSQL scales horizontally; Edge Functions scale automatically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27832"/>
            <a:ext cx="292608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0" y="3227832"/>
            <a:ext cx="868680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3009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300984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99.9 % uptime target via Supabase cloud infrastructure; edge function retries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76472"/>
            <a:ext cx="2926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776472"/>
            <a:ext cx="8686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84962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Availability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849624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24/7 access; offline graceful degradation with clear error messaging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325112"/>
            <a:ext cx="292608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4325112"/>
            <a:ext cx="868680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39826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Usability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398264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Intuitive Material Design UI; WCAG contrast compliance; clear action hierarchy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73752"/>
            <a:ext cx="2926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0" y="4873752"/>
            <a:ext cx="8686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9469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Maintainability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946904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Clean Architecture (data/domain/presentation); single provider import; documented constants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422392"/>
            <a:ext cx="292608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0" y="5422392"/>
            <a:ext cx="868680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4955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Compatibility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495544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Android API 24–34 (Android 7.0–14); Flutter stable channel; responsive for 5–7″ screens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3291840" cy="2377440"/>
          </a:xfrm>
          <a:prstGeom prst="rect">
            <a:avLst/>
          </a:prstGeom>
          <a:solidFill>
            <a:srgbClr val="004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1430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</a:rPr>
              <a:t>FLUTTER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3017520" cy="530352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9105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Presentation Layer
(Screens / Widgets)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94560"/>
            <a:ext cx="3017520" cy="530352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3113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Riverpod State
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34640"/>
            <a:ext cx="3017520" cy="530352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7121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GoRouter Navigation
&amp; RBAC Guards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116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HTTPS
REST / 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097280"/>
            <a:ext cx="3840480" cy="4937760"/>
          </a:xfrm>
          <a:prstGeom prst="rect">
            <a:avLst/>
          </a:prstGeom>
          <a:solidFill>
            <a:srgbClr val="004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1430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</a:rPr>
              <a:t>SUPABASE 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1554480"/>
            <a:ext cx="3566160" cy="5486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16276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Auth (GoTrue / JWT)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212848"/>
            <a:ext cx="3566160" cy="5486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28600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PostgreSQL Database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2871216"/>
            <a:ext cx="3566160" cy="5486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94436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Row Level Security (RLS)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3529584"/>
            <a:ext cx="3566160" cy="5486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6027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Supabase Realtime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4187952"/>
            <a:ext cx="3566160" cy="5486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26110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Object Storage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4846320"/>
            <a:ext cx="3566160" cy="5486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919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Edge Functions (Deno)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1097280"/>
            <a:ext cx="2834640" cy="4937760"/>
          </a:xfrm>
          <a:prstGeom prst="rect">
            <a:avLst/>
          </a:prstGeom>
          <a:solidFill>
            <a:srgbClr val="004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114300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EXTERNAL SERVICES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1554480"/>
            <a:ext cx="2651760" cy="91440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1627632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OneSignal
Push Notifications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2651760"/>
            <a:ext cx="2651760" cy="91440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2724912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Secure Storage
(flutter_secure_storage)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20" y="3749040"/>
            <a:ext cx="2651760" cy="91440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3822192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PDF Generation
(Edge Function)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4846320"/>
            <a:ext cx="2651760" cy="91440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4919472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Android OS
API 24–34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3639312"/>
            <a:ext cx="1051560" cy="384048"/>
          </a:xfrm>
          <a:prstGeom prst="rect">
            <a:avLst/>
          </a:prstGeom>
          <a:solidFill>
            <a:srgbClr val="006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365760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3639312"/>
            <a:ext cx="1051560" cy="384048"/>
          </a:xfrm>
          <a:prstGeom prst="rect">
            <a:avLst/>
          </a:prstGeom>
          <a:solidFill>
            <a:srgbClr val="00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365760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REGION ADMIN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14600" y="3639312"/>
            <a:ext cx="1051560" cy="384048"/>
          </a:xfrm>
          <a:prstGeom prst="rect">
            <a:avLst/>
          </a:prstGeom>
          <a:solidFill>
            <a:srgbClr val="C8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14600" y="365760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SUPER ADMIN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760720" cy="2514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7607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225296"/>
            <a:ext cx="5614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91056"/>
            <a:ext cx="5577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▪  Flutter (Dart) — Cross-platform UI framework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flutter_riverpod — State management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go_router — Declarative navigation &amp; RBAC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flutter_animate — Smooth UI animations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cached_network_image — Optimised image loading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760720" cy="2514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57607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225296"/>
            <a:ext cx="5614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Backend &amp;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91056"/>
            <a:ext cx="5577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▪  Supabase — BaaS platform (PostgreSQL 15)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Row Level Security (RLS) — Fine-grained access control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Supabase Realtime — WebSocket-based live updates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Deno Edge Functions — Serverless business logic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Supabase Storage — Auction &amp; profile photos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13048"/>
            <a:ext cx="5760720" cy="2514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813048"/>
            <a:ext cx="57607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849624"/>
            <a:ext cx="5614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Security &amp;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15384"/>
            <a:ext cx="5577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▪  flutter_secure_storage — AES-256 key vault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AES-CBC Encryption — National ID protection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Supabase Auth — JWT + GoTrue authentication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OneSignal — Cross-platform push notifications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pdf — Server-side PDF report generation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813048"/>
            <a:ext cx="5760720" cy="2514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813048"/>
            <a:ext cx="57607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849624"/>
            <a:ext cx="5614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Dev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15384"/>
            <a:ext cx="5577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▪  VS Code + Flutter extension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Android Studio + Emulator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Wireless ADB (adb connect) — Cable-free testing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GitHub — Version control &amp; collaboration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Supabase CLI — Local dev &amp; function deploy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UI/UX Design — Design Philosophy &amp; Theme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011680" cy="6858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901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087"/>
                </a:solidFill>
              </a:rPr>
              <a:t>#003087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762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</a:rPr>
              <a:t>RNP Blue
(Primary)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188720"/>
            <a:ext cx="2011680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901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087"/>
                </a:solidFill>
              </a:rPr>
              <a:t>#FFD700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1762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</a:rPr>
              <a:t>Gold
(Accent)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188720"/>
            <a:ext cx="2011680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901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087"/>
                </a:solidFill>
              </a:rPr>
              <a:t>#1A1A2E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762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</a:rPr>
              <a:t>Dark
(Background)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188720"/>
            <a:ext cx="2011680" cy="685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901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087"/>
                </a:solidFill>
              </a:rPr>
              <a:t>#F4F6F9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1762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</a:rPr>
              <a:t>Light Grey
(Surfaces)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1188720"/>
            <a:ext cx="2011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901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087"/>
                </a:solidFill>
              </a:rPr>
              <a:t>#FFFFFF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1762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</a:rPr>
              <a:t>White
(Cards)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743200"/>
            <a:ext cx="57607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743200"/>
            <a:ext cx="54864" cy="10241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27980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Material Design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18211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Follows Google Material You guidelines for familiarity and consistency across Android devices.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743200"/>
            <a:ext cx="57607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743200"/>
            <a:ext cx="54864" cy="10241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27980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Role-Aware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318211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Each of the three roles (Client / Region Admin / Super Admin) sees a tailored interface and navigation bar.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858768"/>
            <a:ext cx="57607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858768"/>
            <a:ext cx="54864" cy="10241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39136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Contrast Compliance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297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RNP Blue + White + Gold palette meets WCAG AA contrast standards for readability.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858768"/>
            <a:ext cx="57607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858768"/>
            <a:ext cx="54864" cy="10241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39136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Responsive Layout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4297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Adaptive to 5–7 inch screens; SingleChildScrollView and flexible widgets prevent overflow.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974336"/>
            <a:ext cx="57607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974336"/>
            <a:ext cx="54864" cy="10241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5029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Projection-Ready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54132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High-contrast colours, large touch targets (min 44dp), and clear typography work on projectors.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974336"/>
            <a:ext cx="57607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974336"/>
            <a:ext cx="54864" cy="10241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5029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Android 7 Support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54132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Tested on API 24+; no features restricted to higher APIs without fallback.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UI/UX Design — Application Screens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103120" cy="246888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Splash Screen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143000"/>
            <a:ext cx="2103120" cy="246888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Login Screen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143000"/>
            <a:ext cx="2103120" cy="246888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Registration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143000"/>
            <a:ext cx="2103120" cy="246888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Client Home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1143000"/>
            <a:ext cx="2103120" cy="246888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Auction Detail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2103120" cy="246888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897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My Bids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3794760"/>
            <a:ext cx="2103120" cy="246888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897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Notifications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3794760"/>
            <a:ext cx="2103120" cy="246888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897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Region Admin Dash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794760"/>
            <a:ext cx="2103120" cy="246888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897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Super Admin Dash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3794760"/>
            <a:ext cx="2103120" cy="246888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897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Reports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Database Design — Entity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7607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7607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225296"/>
            <a:ext cx="5614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TABLE: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9105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id (uuid PK)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379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full_name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848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17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national_id (encrypted)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786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59105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8379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is_suspended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0848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profile_photo_url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3317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created_at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35808"/>
            <a:ext cx="57607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035808"/>
            <a:ext cx="57607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3072384"/>
            <a:ext cx="5614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TABLE: AUCTIONS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4381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id (uuid PK)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6850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title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9319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1788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42569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67258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starting_price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4381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current_price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6850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9319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start_date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1788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end_date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42569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admin_id (FK)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67258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photos[]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882896"/>
            <a:ext cx="57607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882896"/>
            <a:ext cx="57607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4919472"/>
            <a:ext cx="5614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TABLE: BIDS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2852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id (uuid PK)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5321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auction_id (FK)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7790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user_id (FK)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2852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amount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5321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created_at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1188720"/>
            <a:ext cx="57607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1188720"/>
            <a:ext cx="57607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1225296"/>
            <a:ext cx="5614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TABLE: NOTIFICATIONS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159105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id (uuid PK)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18379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user_id (FK)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20848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title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23317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body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159105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type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18379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is_read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20848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created_at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035808"/>
            <a:ext cx="57607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3035808"/>
            <a:ext cx="57607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3072384"/>
            <a:ext cx="5614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TABLE: FEEDBACK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34381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id (uuid PK)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36850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user_id (FK)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39319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message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34381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rating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36850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status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39319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created_at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882896"/>
            <a:ext cx="57607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00800" y="4882896"/>
            <a:ext cx="57607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73952" y="4919472"/>
            <a:ext cx="5614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TABLE: REGION_ADMINS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52852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id (uuid PK)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2240" y="55321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full_name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57790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email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52852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region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55321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is_active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57790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created_at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6327648"/>
            <a:ext cx="11612880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635508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Key Relationships: bids.auction_id → auctions.id  |  bids.user_id → users.id  |  notifications.user_id → users.id  |  auctions.admin_id → region_admins.id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Implementation — Key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2468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Authentication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91056"/>
            <a:ext cx="35661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Multi-role login via Supabase Auth (GoTrue)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AES-256 CBC encryption on National ID before storage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Account suspension check on every session resume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Secure token storage via flutter_secure_storage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8807" y="1188720"/>
            <a:ext cx="3749039" cy="2468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8807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Auction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7" y="1591056"/>
            <a:ext cx="35661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Region admins post auctions with multi-photo upload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Supabase Storage bucket: auction-photos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Auction lifecycle: OPEN → CLOSING → CLOSED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Super admin can manage all auctions nationally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4" y="1188720"/>
            <a:ext cx="3749039" cy="2468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4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6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Real-Time Bidding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4" y="1591056"/>
            <a:ext cx="35661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StreamProvider.family backed by Supabase Realtime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place-bid Edge Function: atomic amount validation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Current price updated instantly across all clients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BidNotifier (StateNotifier) manages placement 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49040"/>
            <a:ext cx="3749039" cy="2468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4904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378561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Notifications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151376"/>
            <a:ext cx="35661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OneSignal SDK for cross-device push delivery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send-auction-notification Edge Function dispatches alerts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In-app notification list with read/unread state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Outbid, auction start/end, and admin broadcast 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78807" y="3749040"/>
            <a:ext cx="3749039" cy="2468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78807" y="374904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378561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Reporting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7" y="4151376"/>
            <a:ext cx="35661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generate-report Edge Function creates PDF with dart:pdf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Region-filtered and national-level report modes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Reports saved to Supabase Storage: reports bucket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Download link returned to admin after generation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4" y="3749040"/>
            <a:ext cx="3749039" cy="2468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4" y="374904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6" y="378561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Feedback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4" y="4151376"/>
            <a:ext cx="35661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Clients submit feedback via FeedbackScreen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Admins view and categorise feedback submissions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Rating system 1–5 stars with open-ended message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Stored in feedback table with status lifecycle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Implementation — Screen Gallery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834640" cy="256032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3375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Login / Auth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43000"/>
            <a:ext cx="2834640" cy="256032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3375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Client Home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2834640" cy="256032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3375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Auction Detail &amp; Bid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143000"/>
            <a:ext cx="2834640" cy="256032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3375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Admin Auction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86200"/>
            <a:ext cx="2834640" cy="242316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7320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9436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Bid Confirmation Screen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3886200"/>
            <a:ext cx="2834640" cy="242316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7320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59436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Notifications Centre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86200"/>
            <a:ext cx="2834640" cy="242316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7320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9436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Reports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3886200"/>
            <a:ext cx="2834640" cy="2423160"/>
          </a:xfrm>
          <a:prstGeom prst="rect">
            <a:avLst/>
          </a:prstGeom>
          <a:solidFill>
            <a:srgbClr val="F4F6F9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47320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[ INSERT SCREENSHOT HERE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59436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3087"/>
                </a:solidFill>
              </a:rPr>
              <a:t>Super Admin Panel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Testing &amp; Quality Assurance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Functional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91056"/>
            <a:ext cx="356615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All user stories verified against acceptance criteria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CRUD operations for auctions, bids, users, feedback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Role-based access control validated per route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8807" y="1188720"/>
            <a:ext cx="3749039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8807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Real-Time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7" y="1591056"/>
            <a:ext cx="356615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Supabase Realtime events verified across 3 concurrent sessions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Bid synchronisation latency measured &lt; 1.5 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No missed events under standard network conditions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4" y="1188720"/>
            <a:ext cx="3749039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4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6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Authentication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4" y="1591056"/>
            <a:ext cx="356615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Login / logout / session persistence tested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Suspended account block verified on navigation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Token expiry and refresh flow validated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11880"/>
            <a:ext cx="3749039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61188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364845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Android Compatibility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014216"/>
            <a:ext cx="356615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Tested on API 24 (Android 7), 28 (9), 30 (11), 33 (13), 34 (14)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Wireless ADB used for physical device testing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No API-version-specific crashes detected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78807" y="3611880"/>
            <a:ext cx="3749039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78807" y="361188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364845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UI / Responsiveness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7" y="4014216"/>
            <a:ext cx="356615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Screen sizes from 5″ to 7″ tested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No widget overflow on smallest supported screen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Scroll behaviour verified on all list views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4" y="3611880"/>
            <a:ext cx="3749039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4" y="361188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6" y="364845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Edge Function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4" y="4014216"/>
            <a:ext cx="356615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▪  place-bid: concurrent bid race conditions tested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close-auction: winner assignment verified atomically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▪  create-admin: RLS bypass tested with service role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Challenges Encountered &amp; Solutions Applied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474720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188720"/>
            <a:ext cx="3840480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188720"/>
            <a:ext cx="4206240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1615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21615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Root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21615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1600200"/>
            <a:ext cx="3840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1600200"/>
            <a:ext cx="4206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64592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RLS Policy Conflicts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64592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Supabase Row Level Security blocked legitimate admin reads on certain tables.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1645920"/>
            <a:ext cx="4114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Designed explicit policies per role; used Edge Functions with service role key for admin operations.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12848"/>
            <a:ext cx="347472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4760" y="2212848"/>
            <a:ext cx="384048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2212848"/>
            <a:ext cx="420624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5856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Black Screen on Startup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258568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GoRouter redirect made 3 sequential Supabase queries per navigation, causing a 5–10 s black screen on Android 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258568"/>
            <a:ext cx="4114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Implemented 5-second role cache + 15-second query timeout inside the redirect callback.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25496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94760" y="2825496"/>
            <a:ext cx="3840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80960" y="2825496"/>
            <a:ext cx="4206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7121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Android 7 Compatibility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871216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Certain Flutter plugins and Material 3 behaviours unsupported below API 28.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2871216"/>
            <a:ext cx="4114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Pinned minSdkVersion to 24; replaced incompatible widgets; tested on physical API-24 device via Wireless ADB.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438144"/>
            <a:ext cx="347472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94760" y="3438144"/>
            <a:ext cx="384048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80960" y="3438144"/>
            <a:ext cx="420624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483864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Concurrent Bid Race Cond.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483864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Two users placing identical bids simultaneously caused inconsistent highest-bid state.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3483864"/>
            <a:ext cx="4114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Moved bid logic to place-bid Edge Function using PostgreSQL transaction for atomic compare-and-update.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050792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4050792"/>
            <a:ext cx="3840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4050792"/>
            <a:ext cx="4206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09651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Realtime Sync Lag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4096512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Supabase Realtime events occasionally delayed under poor connectivity.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4096512"/>
            <a:ext cx="4114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Added optimistic UI update on bid submission; Realtime confirms or corrects within 1–2 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663440"/>
            <a:ext cx="347472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94760" y="4663440"/>
            <a:ext cx="384048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680960" y="4663440"/>
            <a:ext cx="420624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70916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Widget Overflow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470916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Long auction titles and descriptions caused RenderFlex overflow on small screens.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79" y="4709160"/>
            <a:ext cx="4114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Wrapped all list items in Flexible/Expanded; added TextOverflow.ellipsis with tooltip on tap.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276088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94760" y="5276088"/>
            <a:ext cx="3840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80960" y="5276088"/>
            <a:ext cx="4206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532180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Notification Delivery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5321808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OneSignal tokens not registered before first login, causing missed push notifications.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6679" y="5321808"/>
            <a:ext cx="4114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Added notification initialisation inside post-login flow; fall back to in-app notification centre.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888736"/>
            <a:ext cx="347472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794760" y="5888736"/>
            <a:ext cx="384048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80960" y="5888736"/>
            <a:ext cx="420624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593445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State After Suspension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5934456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Suspended users could remain in session until token expiry.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26679" y="5934456"/>
            <a:ext cx="4114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Added suspension check in GoRouter redirect; every navigation triggers a lightweight status query.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Live Demo — Walkthrough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896112" cy="12344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896112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527048"/>
            <a:ext cx="896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Splash &amp;
App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645920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1143000"/>
            <a:ext cx="896112" cy="12344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1143000"/>
            <a:ext cx="896112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117043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527048"/>
            <a:ext cx="896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Client
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0552" y="1645920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1143000"/>
            <a:ext cx="896112" cy="12344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4560" y="1143000"/>
            <a:ext cx="896112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117043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1527048"/>
            <a:ext cx="896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Login &amp;
Role 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1645920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1143000"/>
            <a:ext cx="896112" cy="12344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4680" y="1143000"/>
            <a:ext cx="896112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117043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1527048"/>
            <a:ext cx="896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Region
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0792" y="1645920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143000"/>
            <a:ext cx="896112" cy="12344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1143000"/>
            <a:ext cx="896112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117043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1527048"/>
            <a:ext cx="896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Client
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1645920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1143000"/>
            <a:ext cx="896112" cy="12344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74920" y="1143000"/>
            <a:ext cx="896112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117043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1527048"/>
            <a:ext cx="896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View
Auction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606040"/>
            <a:ext cx="896112" cy="12344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2606040"/>
            <a:ext cx="896112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263347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2990088"/>
            <a:ext cx="896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Place
Bid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3108960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440" y="2606040"/>
            <a:ext cx="896112" cy="12344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34440" y="2606040"/>
            <a:ext cx="896112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34440" y="263347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2990088"/>
            <a:ext cx="896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Real-Time
Update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30552" y="3108960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2606040"/>
            <a:ext cx="896112" cy="12344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194560" y="2606040"/>
            <a:ext cx="896112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94560" y="263347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0" y="2990088"/>
            <a:ext cx="896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Notification
Received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672" y="3108960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54680" y="2606040"/>
            <a:ext cx="896112" cy="12344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54680" y="2606040"/>
            <a:ext cx="896112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54680" y="263347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54680" y="2990088"/>
            <a:ext cx="896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Admin
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50792" y="3108960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2606040"/>
            <a:ext cx="896112" cy="12344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0" y="2606040"/>
            <a:ext cx="896112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0" y="263347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2990088"/>
            <a:ext cx="896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Close
Auction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10912" y="3108960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74920" y="2606040"/>
            <a:ext cx="896112" cy="123444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74920" y="2606040"/>
            <a:ext cx="896112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74920" y="263347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74920" y="2990088"/>
            <a:ext cx="896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View
Reports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023360"/>
            <a:ext cx="11612880" cy="214884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40690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PRESENTER NOTES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44622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Start with the app already installed on a physical device or emulator.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48646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Use two devices or browser tabs to demonstrate real-time bid synchronisation.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52669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Show the admin closing an auction and the client receiving the winner notification.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" y="566928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Open a report PDF to demonstrate the reporting engine. Keep demo under 15 minutes.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Impact &amp;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4846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Rwanda National Police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91056"/>
            <a:ext cx="356615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▪  Eliminates manual paperwork and physical record storage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Real-time dashboard visibility into all national auctions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Automated PDF reports for accountability and audit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Reduced staff workload through system automation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Traceable and tamper-evident bid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9" y="1188720"/>
            <a:ext cx="3749039" cy="4846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39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1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Rwandan Citizens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1591056"/>
            <a:ext cx="356615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▪  Nationwide remote participation — no travel required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Fair and transparent bidding with equal access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Instant push notifications on bid status changes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Easy-to-use mobile interface for all literacy levels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Secure handling of personal identification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8" y="1188720"/>
            <a:ext cx="3749039" cy="4846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8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0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Digital Rwanda Agenda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8" y="1591056"/>
            <a:ext cx="356615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▪  Demonstrates feasibility of mobile e-government services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Aligns with Vision 2050 digital transformation goals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Open architecture reusable for other govt. auctions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Reduces carbon footprint by eliminating physical presence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Contributes to Rwanda's global ICT competitiveness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Future Improvements &amp;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4343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Short-Term (0–6 months)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91056"/>
            <a:ext cx="3566159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▪  iOS / iPadOS support via Flutter platform adaptation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Kinyarwanda language localisation (i18n)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SMS fallback notifications via Twilio / Rwanda MTN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Biometric authentication (fingerprint / face ID)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Offline-first mode with local Hive cache &amp; sync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49039" cy="4343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Mid-Term (6–18 months)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91056"/>
            <a:ext cx="3566159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▪  Mobile Money integration (MoMo API, Airtel Money)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Web admin dashboard (Flutter Web or Next.js)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Advanced analytics with charts &amp; trend analysis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AI-powered price prediction per vehicle category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Bulk auction import from Excel / 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4343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22529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Long-Term (18+ months)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591056"/>
            <a:ext cx="3566159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▪  Machine-learning bid prediction for reserve pricing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AI fraud detection flagging anomalous bid patterns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National cloud scaling across all government agencies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Open API for third-party auction integrations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▪  Cross-border auction support for EAC member states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914400"/>
          </a:xfrm>
          <a:prstGeom prst="rect">
            <a:avLst/>
          </a:prstGeom>
          <a:solidFill>
            <a:srgbClr val="00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E-CYAMUNARA successfully delivers a production-ready, secure, and scalable mobile auction platform that modernises the Rwanda National Police vehicle disposal process and sets a replicable model for digital government services in Rwanda.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749039" cy="384048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23113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Technical Achievements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96896"/>
            <a:ext cx="356615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▪  Clean Architecture with Riverpod state management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▪  AES-256 NID encryption + Supabase RLS security model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▪  Atomic real-time bidding via Deno Edge Functions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▪  PDF report generation and cloud storage integration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▪  Android 7.0–14 compatibility verified on physical devices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39" y="2194560"/>
            <a:ext cx="3749039" cy="384048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39" y="219456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1" y="223113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Academic Contributions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2596896"/>
            <a:ext cx="356615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▪  Demonstrates full-stack Flutter + Supabase integration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▪  Applies RBAC design in a real government use case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▪  Implements serverless functions for tamper-proof logic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▪  Contributes a replicable e-government mobile app pattern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▪  Complete documentation of architecture and design decisions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8" y="2194560"/>
            <a:ext cx="3749039" cy="384048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8" y="219456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0" y="2231136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Social / Business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8" y="2596896"/>
            <a:ext cx="356615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▪  Increases transparency in government asset disposal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▪  Enables nationwide equitable access to RNP auctions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▪  Reduces operational costs and human error for RNP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▪  Aligns with Rwanda Vision 2050 digital economy goals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▪  Provides a foundation for future AI and ML enhancements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64008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N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463040" cy="1463040"/>
          </a:xfrm>
          <a:prstGeom prst="rect">
            <a:avLst/>
          </a:prstGeom>
        </p:spPr>
      </p:pic>
      <p:pic>
        <p:nvPicPr>
          <p:cNvPr id="6" name="Picture 5" descr="PLATFOR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365760"/>
            <a:ext cx="1463040" cy="1463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" y="19202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RWANDA NATIONAL POLICE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37744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E-CYAMUNARA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31272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D700"/>
                </a:solidFill>
              </a:rPr>
              <a:t>Online Vehicle Auction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11880"/>
            <a:ext cx="36576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" y="373075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University of Rwanda  |  Academic Year 2024–2025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1887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029968"/>
            <a:ext cx="67665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176272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D700"/>
                </a:solidFill>
              </a:rPr>
              <a:t>Questions &amp;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926080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Team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337560"/>
            <a:ext cx="6766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▪  NDAYISHIMIYE Issa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794760"/>
            <a:ext cx="6766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▪  KARANGWA Jean Paul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251960"/>
            <a:ext cx="6766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▪  UWIMANA Consolee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709160"/>
            <a:ext cx="6766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▪  NKURUNZIZA Thierry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3949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A"/>
                </a:solidFill>
              </a:rPr>
              <a:t>Mobile Application Development  —  INFT 3204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RNP E-CYAMUNARA  |  Online Vehicle Auction Platform   |   Slide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